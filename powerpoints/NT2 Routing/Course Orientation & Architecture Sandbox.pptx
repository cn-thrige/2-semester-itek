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1" r:id="rId4"/>
    <p:sldId id="256" r:id="rId5"/>
    <p:sldId id="265" r:id="rId6"/>
    <p:sldId id="266" r:id="rId7"/>
    <p:sldId id="264" r:id="rId8"/>
    <p:sldId id="267" r:id="rId9"/>
    <p:sldId id="268" r:id="rId10"/>
    <p:sldId id="257" r:id="rId11"/>
    <p:sldId id="258" r:id="rId12"/>
    <p:sldId id="259" r:id="rId13"/>
    <p:sldId id="260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97D9F-4723-03B4-484B-EC42C2368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C8B1E-9CCA-7828-5525-4B853AA58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73B5D-70C3-0E16-AD24-AFEF7F320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47B4-DE05-4715-BCDF-13B9AB8CFD1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389A1-AAEB-01AA-DD10-305DCA5D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75C9D-A1C8-9CAC-992C-C10BB4ED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F2C68-3AB6-4F89-87CB-F502DF01B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32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47CE-2E28-6C73-8047-B0D173C11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6E04E-A466-375A-EF58-F9B566D13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4BC9F-EC45-D9D8-423B-340B80A63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47B4-DE05-4715-BCDF-13B9AB8CFD1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F8D57-E0B9-2965-8647-775FFE28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B7F2A-54D7-AD74-C73B-374882D2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F2C68-3AB6-4F89-87CB-F502DF01B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43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FF1E-0DEE-2105-E905-D9CB4B996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9C8F0-A1D5-1006-722B-A8FC56ACB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2EC1E-A412-C1D3-59B3-7CA9435C1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47B4-DE05-4715-BCDF-13B9AB8CFD1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77FDE-2CF8-357A-4F0E-4F69C6E01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D6916-089B-B9A9-1F20-5B0AD8919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F2C68-3AB6-4F89-87CB-F502DF01B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1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FDBD-392B-D97C-7CA9-D68A9708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2AE86-2C58-D192-1A23-CD03680EF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D7AF2-5B34-8BE2-9B53-EEDDA3245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F8622-1DD5-206F-D27A-EAF72F0AD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47B4-DE05-4715-BCDF-13B9AB8CFD1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D27BE-BFB0-58D2-5DBF-E5286F621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5E31E-2D7B-AF1C-286A-5DB0A37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F2C68-3AB6-4F89-87CB-F502DF01B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4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F2284-85F2-B5F0-51CA-C6A97361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CFE2-0C62-A192-2292-3BC12E9E3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E1D2D-183D-EA20-B40A-59F11941F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9F19C4-A978-BC19-331B-25111C13B9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453FA7-EDED-3267-5575-0D58258E4F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E03581-5239-5DD6-DA87-DECBB58A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47B4-DE05-4715-BCDF-13B9AB8CFD1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BC2B0A-E82F-AA7E-0415-FA032A312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E6764-019E-D514-D2D9-A1B91298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F2C68-3AB6-4F89-87CB-F502DF01B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57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F5860-B6CC-FA7A-4B3D-68E8EBB7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2D9146-4FE8-D582-E978-37B5FD65F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47B4-DE05-4715-BCDF-13B9AB8CFD1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550D4-C8CE-8449-E7A9-CF4ABF46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C8905-EB30-7AE4-0CC8-644C76B9F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F2C68-3AB6-4F89-87CB-F502DF01B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9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4F44E9-4F8E-3BA9-43C0-8ECA8A639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47B4-DE05-4715-BCDF-13B9AB8CFD1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280586-0FE2-6386-5BDD-B802F5BFF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8E9A8-8CAD-B5F8-72A9-166B88C6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F2C68-3AB6-4F89-87CB-F502DF01B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0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0101A-B915-B521-85A3-50AA43E4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1A694-B786-55B2-2653-2F47638FA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586DD-4F2A-BC80-BE29-D0BA914ED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39A5A-156B-38CD-568A-E3C5084D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47B4-DE05-4715-BCDF-13B9AB8CFD1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839CD-E8E6-CC08-BB8D-4DF2302C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81B1F-58F3-AD2F-D878-46E6BF8C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F2C68-3AB6-4F89-87CB-F502DF01B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4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D922B-D6FC-FE12-D786-A3432C1F2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9B857-80BA-B535-CA58-29124F942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2975B-27DC-CEDC-6650-623D152D5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9B7C7-D81F-DE63-14DB-02D84F78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47B4-DE05-4715-BCDF-13B9AB8CFD1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6AA7A-A6A8-5AE7-22D5-0FA0C4A5C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FEECE-C8C5-9DC1-BAAE-AE0C2D7BA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F2C68-3AB6-4F89-87CB-F502DF01B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28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B040-14E6-0E6B-C19A-470198D3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845C7-D716-4B3F-CBB4-4FCB62507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5A4F7-AC9C-3CA2-ED88-E957B969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47B4-DE05-4715-BCDF-13B9AB8CFD1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10122-7777-CBD5-F44E-D9F90CE17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AAA60-58FD-DD3B-913F-5970758A5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F2C68-3AB6-4F89-87CB-F502DF01B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3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FC174A-9AA7-8F46-EEEB-4796825A1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01E95-E9DB-C0C6-3D12-D89C0516C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FDDD-E7D6-58A5-8562-DF11B78ED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47B4-DE05-4715-BCDF-13B9AB8CFD1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63B79-DD7A-74BF-BC04-1EDDBDC3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54F10-EBCE-7EF2-F607-3CBC7039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F2C68-3AB6-4F89-87CB-F502DF01B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0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D26D7E-B07B-F99D-16D2-111762995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D04E6-831D-CEB4-C6B9-0B75DEEA5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DDDBB-D643-8AD0-3886-622381F61D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9247B4-DE05-4715-BCDF-13B9AB8CFD1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FA6C3-0992-D9A7-BFD0-4C768E6AA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19EB1-C151-3E8C-2F6D-76F4630D1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F2C68-3AB6-4F89-87CB-F502DF01B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90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azeem-umar-39a53945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E278-6634-16CD-EDED-915F7B775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E14536-AD6E-223A-2F1E-E943E731A048}"/>
              </a:ext>
            </a:extLst>
          </p:cNvPr>
          <p:cNvSpPr txBox="1"/>
          <p:nvPr/>
        </p:nvSpPr>
        <p:spPr>
          <a:xfrm>
            <a:off x="1149791" y="199177"/>
            <a:ext cx="7650178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MEET YOUR INSTRUCTOR</a:t>
            </a:r>
          </a:p>
          <a:p>
            <a:r>
              <a:rPr lang="en-US" sz="2000" b="1" dirty="0"/>
              <a:t>AZEEM UMAR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TECHNICAL PROFILE &amp; TIMELINE</a:t>
            </a:r>
          </a:p>
          <a:p>
            <a:pPr lvl="0"/>
            <a:r>
              <a:rPr lang="en-US" sz="2000" b="1" dirty="0"/>
              <a:t>Assistant Professor</a:t>
            </a:r>
            <a:r>
              <a:rPr lang="en-US" sz="2000" dirty="0"/>
              <a:t> | Business Academy Aarhus </a:t>
            </a:r>
            <a:r>
              <a:rPr lang="en-US" sz="2000" i="1" dirty="0"/>
              <a:t>(2024 – Present)</a:t>
            </a:r>
            <a:endParaRPr lang="en-US" sz="2000" dirty="0"/>
          </a:p>
          <a:p>
            <a:pPr lvl="1"/>
            <a:r>
              <a:rPr lang="en-US" sz="2000" i="1" dirty="0"/>
              <a:t>Focus:</a:t>
            </a:r>
            <a:r>
              <a:rPr lang="en-US" sz="2000" dirty="0"/>
              <a:t> Enterprise Networking, Google Cloud, Veeam Backup Infrastructure</a:t>
            </a:r>
          </a:p>
          <a:p>
            <a:pPr lvl="1"/>
            <a:endParaRPr lang="en-US" sz="2000" dirty="0"/>
          </a:p>
          <a:p>
            <a:pPr lvl="0"/>
            <a:r>
              <a:rPr lang="en-US" sz="2000" b="1" dirty="0"/>
              <a:t>Systems Instructor</a:t>
            </a:r>
            <a:r>
              <a:rPr lang="en-US" sz="2000" dirty="0"/>
              <a:t> | </a:t>
            </a:r>
            <a:r>
              <a:rPr lang="en-US" sz="2000" dirty="0" err="1"/>
              <a:t>Mercantec</a:t>
            </a:r>
            <a:r>
              <a:rPr lang="en-US" sz="2000" dirty="0"/>
              <a:t> </a:t>
            </a:r>
            <a:r>
              <a:rPr lang="en-US" sz="2000" i="1" dirty="0"/>
              <a:t>(2009 – 2024)</a:t>
            </a:r>
            <a:endParaRPr lang="en-US" sz="2000" dirty="0"/>
          </a:p>
          <a:p>
            <a:pPr lvl="1"/>
            <a:r>
              <a:rPr lang="en-US" sz="2000" i="1" dirty="0"/>
              <a:t>Specialist:</a:t>
            </a:r>
            <a:r>
              <a:rPr lang="en-US" sz="2000" dirty="0"/>
              <a:t> Windows Server Infrastructure, SQL Databases, Exchange, &amp; System Center.</a:t>
            </a:r>
          </a:p>
          <a:p>
            <a:pPr lvl="1"/>
            <a:endParaRPr lang="en-US" sz="2000" dirty="0"/>
          </a:p>
          <a:p>
            <a:pPr lvl="0"/>
            <a:r>
              <a:rPr lang="en-US" sz="2000" b="1" dirty="0"/>
              <a:t>Systems Engineer</a:t>
            </a:r>
            <a:r>
              <a:rPr lang="en-US" sz="2000" dirty="0"/>
              <a:t> | NADRA </a:t>
            </a:r>
            <a:r>
              <a:rPr lang="en-US" sz="2000" i="1" dirty="0"/>
              <a:t>(2005 – 2006)</a:t>
            </a:r>
            <a:endParaRPr lang="en-US" sz="2000" dirty="0"/>
          </a:p>
          <a:p>
            <a:pPr lvl="1"/>
            <a:r>
              <a:rPr lang="en-US" sz="2000" i="1" dirty="0"/>
              <a:t>Role:</a:t>
            </a:r>
            <a:r>
              <a:rPr lang="en-US" sz="2000" dirty="0"/>
              <a:t> Enterprise administration on Microsoft server architectures.</a:t>
            </a:r>
          </a:p>
          <a:p>
            <a:pPr lvl="1"/>
            <a:endParaRPr lang="en-US" sz="1600" dirty="0">
              <a:hlinkClick r:id="rId2"/>
            </a:endParaRPr>
          </a:p>
          <a:p>
            <a:pPr lvl="1"/>
            <a:endParaRPr lang="en-US" sz="1600" dirty="0">
              <a:hlinkClick r:id="rId2"/>
            </a:endParaRPr>
          </a:p>
          <a:p>
            <a:pPr lvl="1"/>
            <a:endParaRPr lang="en-US" sz="1600" dirty="0">
              <a:hlinkClick r:id="rId2"/>
            </a:endParaRPr>
          </a:p>
          <a:p>
            <a:pPr lvl="1"/>
            <a:r>
              <a:rPr lang="en-US" sz="1600" b="1" dirty="0" err="1">
                <a:hlinkClick r:id="rId2"/>
              </a:rPr>
              <a:t>Linkedin</a:t>
            </a:r>
            <a:r>
              <a:rPr lang="en-US" sz="1600" b="1" dirty="0">
                <a:hlinkClick r:id="rId2"/>
              </a:rPr>
              <a:t> Profile:</a:t>
            </a:r>
          </a:p>
          <a:p>
            <a:pPr lvl="1"/>
            <a:r>
              <a:rPr lang="en-US" sz="1600" dirty="0">
                <a:hlinkClick r:id="rId2"/>
              </a:rPr>
              <a:t>https://www.linkedin.com/in/azeem-umar-39a53945/</a:t>
            </a:r>
            <a:endParaRPr lang="en-US" sz="1600" dirty="0"/>
          </a:p>
          <a:p>
            <a:pPr lvl="1"/>
            <a:endParaRPr lang="en-US" sz="1600" dirty="0"/>
          </a:p>
          <a:p>
            <a:br>
              <a:rPr lang="en-US" sz="1600" dirty="0"/>
            </a:b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72533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A0C5A-89EC-F31C-624D-EE2480652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/pakistan - Contrasting the Administrative Land Area of Pakistan and Europe">
            <a:extLst>
              <a:ext uri="{FF2B5EF4-FFF2-40B4-BE49-F238E27FC236}">
                <a16:creationId xmlns:a16="http://schemas.microsoft.com/office/drawing/2014/main" id="{1475C92B-FD2C-D508-2AB8-79BD092D2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174672"/>
            <a:ext cx="5181599" cy="616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811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CCA1F-0B1E-1837-9A89-74099D23E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7D8D22-2232-12A1-1AB5-7329DBF92AA3}"/>
              </a:ext>
            </a:extLst>
          </p:cNvPr>
          <p:cNvSpPr txBox="1"/>
          <p:nvPr/>
        </p:nvSpPr>
        <p:spPr>
          <a:xfrm>
            <a:off x="923454" y="1222218"/>
            <a:ext cx="10894337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WELCOME TO NT2 ROUTING (SEMESTER 2)</a:t>
            </a:r>
          </a:p>
          <a:p>
            <a:r>
              <a:rPr lang="en-US" sz="2400" dirty="0"/>
              <a:t>Enterprise Architecture: Deploying a Multi-Subnet Production Core</a:t>
            </a:r>
          </a:p>
          <a:p>
            <a:endParaRPr lang="en-US" dirty="0"/>
          </a:p>
          <a:p>
            <a:r>
              <a:rPr lang="en-US" dirty="0"/>
              <a:t>• Weeks 1 - 2: Virtual Switches &amp; Master Image Deployments</a:t>
            </a:r>
          </a:p>
          <a:p>
            <a:endParaRPr lang="en-US" dirty="0"/>
          </a:p>
          <a:p>
            <a:r>
              <a:rPr lang="en-US" dirty="0"/>
              <a:t>• Weeks 3 - 4: Core LAN Routing, NAT Firewalls, &amp; Secure SSH Routing</a:t>
            </a:r>
          </a:p>
          <a:p>
            <a:endParaRPr lang="en-US" dirty="0"/>
          </a:p>
          <a:p>
            <a:r>
              <a:rPr lang="en-US" dirty="0"/>
              <a:t>• Weeks 5 - 6: DHCP and Relay Agent Routing &amp; DNS Nameservers</a:t>
            </a:r>
          </a:p>
          <a:p>
            <a:endParaRPr lang="en-US" dirty="0"/>
          </a:p>
          <a:p>
            <a:r>
              <a:rPr lang="en-US" dirty="0"/>
              <a:t>• Weeks 7 - 8: Apache Web Server Routing, Samba Storage, &amp; </a:t>
            </a:r>
            <a:r>
              <a:rPr lang="en-US" dirty="0" err="1"/>
              <a:t>Rsync</a:t>
            </a:r>
            <a:r>
              <a:rPr lang="en-US" dirty="0"/>
              <a:t> Backups</a:t>
            </a:r>
          </a:p>
          <a:p>
            <a:endParaRPr lang="en-US" dirty="0"/>
          </a:p>
          <a:p>
            <a:r>
              <a:rPr lang="en-US" dirty="0"/>
              <a:t>• Week 9:      Cross-Platform Windows Static Routing</a:t>
            </a:r>
          </a:p>
        </p:txBody>
      </p:sp>
    </p:spTree>
    <p:extLst>
      <p:ext uri="{BB962C8B-B14F-4D97-AF65-F5344CB8AC3E}">
        <p14:creationId xmlns:p14="http://schemas.microsoft.com/office/powerpoint/2010/main" val="407164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o photo description available.">
            <a:extLst>
              <a:ext uri="{FF2B5EF4-FFF2-40B4-BE49-F238E27FC236}">
                <a16:creationId xmlns:a16="http://schemas.microsoft.com/office/drawing/2014/main" id="{72AF20BC-D1D2-F5F7-4322-FA03A1AAE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884" y="859513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56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04D3B-DB67-8194-A37A-147BF6696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6347F8-24C4-0B7B-5AF9-FA8136D64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413" y="0"/>
            <a:ext cx="4829174" cy="669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082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1F81B-B7DF-5DE8-6EF7-759C6E844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mware first product list">
            <a:extLst>
              <a:ext uri="{FF2B5EF4-FFF2-40B4-BE49-F238E27FC236}">
                <a16:creationId xmlns:a16="http://schemas.microsoft.com/office/drawing/2014/main" id="{1C2ADB44-C4A1-04A5-CFFA-B9E5E95BC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979" y="95912"/>
            <a:ext cx="5595042" cy="642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140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EFE9F-8A2D-9DD7-FBAB-1F2EE062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67DEA4-0F77-CA44-0656-836434611BA6}"/>
              </a:ext>
            </a:extLst>
          </p:cNvPr>
          <p:cNvSpPr txBox="1"/>
          <p:nvPr/>
        </p:nvSpPr>
        <p:spPr>
          <a:xfrm>
            <a:off x="1065291" y="5464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Lesson 1 Infrastructure — The Single-VM Sandbox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8213C-9D29-9642-26F7-DEA8104F2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587" y="1243853"/>
            <a:ext cx="6276975" cy="515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82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C699B-DDEE-929A-419F-C23FD832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36318F-B429-E1E7-A58B-F87508F6A43B}"/>
              </a:ext>
            </a:extLst>
          </p:cNvPr>
          <p:cNvSpPr txBox="1"/>
          <p:nvPr/>
        </p:nvSpPr>
        <p:spPr>
          <a:xfrm>
            <a:off x="1147526" y="449076"/>
            <a:ext cx="10102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Group Workflow — Sourcing, Sharing, &amp; Cloning Templates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645C97-2580-69D8-C459-E211D2615744}"/>
              </a:ext>
            </a:extLst>
          </p:cNvPr>
          <p:cNvSpPr txBox="1"/>
          <p:nvPr/>
        </p:nvSpPr>
        <p:spPr>
          <a:xfrm>
            <a:off x="1294646" y="1548143"/>
            <a:ext cx="914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 [ PHASE 1: DOWNLOAD ]  ──► Only Student 1 downloads Server &amp; Desktop ISOs</a:t>
            </a:r>
          </a:p>
          <a:p>
            <a:r>
              <a:rPr lang="en-US" sz="2000" dirty="0"/>
              <a:t>                                        │</a:t>
            </a:r>
          </a:p>
          <a:p>
            <a:r>
              <a:rPr lang="en-US" sz="2000" dirty="0"/>
              <a:t>                                        ▼</a:t>
            </a:r>
          </a:p>
          <a:p>
            <a:r>
              <a:rPr lang="en-US" sz="2000" dirty="0"/>
              <a:t>  [ PHASE 2: INSTALL ]   ──► Student 1 builds baseline Master Template folders</a:t>
            </a:r>
          </a:p>
          <a:p>
            <a:r>
              <a:rPr lang="en-US" sz="2000" dirty="0"/>
              <a:t>                                        │</a:t>
            </a:r>
          </a:p>
          <a:p>
            <a:r>
              <a:rPr lang="en-US" sz="2000" dirty="0"/>
              <a:t>                                        ▼</a:t>
            </a:r>
          </a:p>
          <a:p>
            <a:r>
              <a:rPr lang="en-US" sz="2000" dirty="0"/>
              <a:t>  [ PHASE 3: O-T-A SHARE]──► Student 1 shares folders over local Wi-Fi </a:t>
            </a:r>
          </a:p>
          <a:p>
            <a:r>
              <a:rPr lang="en-US" sz="2000" dirty="0"/>
              <a:t>                             (Students 2, 3, 4 drag folders to local storage) </a:t>
            </a:r>
          </a:p>
          <a:p>
            <a:r>
              <a:rPr lang="en-US" sz="2000" dirty="0"/>
              <a:t>                                        │</a:t>
            </a:r>
          </a:p>
          <a:p>
            <a:r>
              <a:rPr lang="en-US" sz="2000" dirty="0"/>
              <a:t>                                        ▼</a:t>
            </a:r>
          </a:p>
          <a:p>
            <a:r>
              <a:rPr lang="en-US" sz="2000" dirty="0"/>
              <a:t>  [ PHASE 4: CLONING ]   ──► EVERY individual registers file &amp; generates a</a:t>
            </a:r>
          </a:p>
          <a:p>
            <a:r>
              <a:rPr lang="en-US" sz="2000" dirty="0"/>
              <a:t>                             "Linked Clone" with a fresh MAC ID ("I COPIED IT") </a:t>
            </a:r>
          </a:p>
        </p:txBody>
      </p:sp>
    </p:spTree>
    <p:extLst>
      <p:ext uri="{BB962C8B-B14F-4D97-AF65-F5344CB8AC3E}">
        <p14:creationId xmlns:p14="http://schemas.microsoft.com/office/powerpoint/2010/main" val="361623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74034" y="1677606"/>
            <a:ext cx="6090920" cy="176530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440055" marR="5080" indent="-427990">
              <a:lnSpc>
                <a:spcPts val="6480"/>
              </a:lnSpc>
              <a:spcBef>
                <a:spcPts val="925"/>
              </a:spcBef>
            </a:pPr>
            <a:r>
              <a:rPr sz="6000" dirty="0"/>
              <a:t>Ubuntu</a:t>
            </a:r>
            <a:r>
              <a:rPr sz="6000" spc="5" dirty="0"/>
              <a:t> </a:t>
            </a:r>
            <a:r>
              <a:rPr sz="6000" spc="-10" dirty="0"/>
              <a:t>Netplan configuration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4689415" y="3499608"/>
            <a:ext cx="2814320" cy="138874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sz="2400" b="0" spc="-20" dirty="0">
                <a:latin typeface="Bookman Old Style"/>
                <a:cs typeface="Bookman Old Style"/>
              </a:rPr>
              <a:t>DHCP</a:t>
            </a:r>
            <a:endParaRPr sz="2400">
              <a:latin typeface="Bookman Old Style"/>
              <a:cs typeface="Bookman Old Style"/>
            </a:endParaRPr>
          </a:p>
          <a:p>
            <a:pPr marL="12700" marR="5080" algn="ctr">
              <a:lnSpc>
                <a:spcPts val="3600"/>
              </a:lnSpc>
              <a:spcBef>
                <a:spcPts val="70"/>
              </a:spcBef>
            </a:pPr>
            <a:r>
              <a:rPr sz="2400" b="0" dirty="0">
                <a:latin typeface="Bookman Old Style"/>
                <a:cs typeface="Bookman Old Style"/>
              </a:rPr>
              <a:t>Fixed</a:t>
            </a:r>
            <a:r>
              <a:rPr sz="2400" b="0" spc="-50" dirty="0">
                <a:latin typeface="Bookman Old Style"/>
                <a:cs typeface="Bookman Old Style"/>
              </a:rPr>
              <a:t> </a:t>
            </a:r>
            <a:r>
              <a:rPr sz="2400" b="0" dirty="0">
                <a:latin typeface="Bookman Old Style"/>
                <a:cs typeface="Bookman Old Style"/>
              </a:rPr>
              <a:t>IP</a:t>
            </a:r>
            <a:r>
              <a:rPr sz="2400" b="0" spc="-10" dirty="0">
                <a:latin typeface="Bookman Old Style"/>
                <a:cs typeface="Bookman Old Style"/>
              </a:rPr>
              <a:t> addresses </a:t>
            </a:r>
            <a:r>
              <a:rPr sz="2400" b="0" dirty="0">
                <a:latin typeface="Bookman Old Style"/>
                <a:cs typeface="Bookman Old Style"/>
              </a:rPr>
              <a:t>Manual</a:t>
            </a:r>
            <a:r>
              <a:rPr sz="2400" b="0" spc="-85" dirty="0">
                <a:latin typeface="Bookman Old Style"/>
                <a:cs typeface="Bookman Old Style"/>
              </a:rPr>
              <a:t> </a:t>
            </a:r>
            <a:r>
              <a:rPr sz="2400" b="0" spc="-10" dirty="0">
                <a:latin typeface="Bookman Old Style"/>
                <a:cs typeface="Bookman Old Style"/>
              </a:rPr>
              <a:t>routes</a:t>
            </a:r>
            <a:endParaRPr sz="240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90"/>
              </a:spcBef>
            </a:pPr>
            <a:r>
              <a:rPr dirty="0"/>
              <a:t>Netplan</a:t>
            </a:r>
            <a:r>
              <a:rPr spc="-120" dirty="0"/>
              <a:t> </a:t>
            </a:r>
            <a:r>
              <a:rPr dirty="0"/>
              <a:t>file</a:t>
            </a:r>
            <a:r>
              <a:rPr spc="-80" dirty="0"/>
              <a:t> </a:t>
            </a:r>
            <a:r>
              <a:rPr spc="-10" dirty="0"/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0466"/>
            <a:ext cx="9931400" cy="386016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2800" b="0" spc="-10" dirty="0">
                <a:latin typeface="Bookman Old Style"/>
                <a:cs typeface="Bookman Old Style"/>
              </a:rPr>
              <a:t>Directory:</a:t>
            </a:r>
            <a:endParaRPr sz="2800">
              <a:latin typeface="Bookman Old Style"/>
              <a:cs typeface="Bookman Old Style"/>
            </a:endParaRPr>
          </a:p>
          <a:p>
            <a:pPr marL="6972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0" dirty="0">
                <a:latin typeface="Bookman Old Style"/>
                <a:cs typeface="Bookman Old Style"/>
              </a:rPr>
              <a:t>cd</a:t>
            </a:r>
            <a:r>
              <a:rPr sz="2400" b="0" spc="-35" dirty="0">
                <a:latin typeface="Bookman Old Style"/>
                <a:cs typeface="Bookman Old Style"/>
              </a:rPr>
              <a:t> </a:t>
            </a:r>
            <a:r>
              <a:rPr sz="2400" b="0" spc="-10" dirty="0">
                <a:latin typeface="Bookman Old Style"/>
                <a:cs typeface="Bookman Old Style"/>
              </a:rPr>
              <a:t>/etc/netplan</a:t>
            </a:r>
            <a:endParaRPr sz="2400">
              <a:latin typeface="Bookman Old Style"/>
              <a:cs typeface="Bookman Old Style"/>
            </a:endParaRPr>
          </a:p>
          <a:p>
            <a:pPr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0" spc="-25" dirty="0">
                <a:latin typeface="Bookman Old Style"/>
                <a:cs typeface="Bookman Old Style"/>
              </a:rPr>
              <a:t>Ls</a:t>
            </a:r>
            <a:endParaRPr sz="24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925"/>
              </a:spcBef>
              <a:buFont typeface="Arial"/>
              <a:buChar char="•"/>
            </a:pPr>
            <a:endParaRPr sz="24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</a:pPr>
            <a:r>
              <a:rPr sz="2800" b="0" dirty="0">
                <a:latin typeface="Bookman Old Style"/>
                <a:cs typeface="Bookman Old Style"/>
              </a:rPr>
              <a:t>List</a:t>
            </a:r>
            <a:r>
              <a:rPr sz="2800" b="0" spc="-15" dirty="0">
                <a:latin typeface="Bookman Old Style"/>
                <a:cs typeface="Bookman Old Style"/>
              </a:rPr>
              <a:t> </a:t>
            </a:r>
            <a:r>
              <a:rPr sz="2800" b="0" dirty="0">
                <a:latin typeface="Bookman Old Style"/>
                <a:cs typeface="Bookman Old Style"/>
              </a:rPr>
              <a:t>content</a:t>
            </a:r>
            <a:r>
              <a:rPr sz="2800" b="0" spc="-90" dirty="0">
                <a:latin typeface="Bookman Old Style"/>
                <a:cs typeface="Bookman Old Style"/>
              </a:rPr>
              <a:t> </a:t>
            </a:r>
            <a:r>
              <a:rPr sz="2800" b="0" dirty="0">
                <a:latin typeface="Bookman Old Style"/>
                <a:cs typeface="Bookman Old Style"/>
              </a:rPr>
              <a:t>of</a:t>
            </a:r>
            <a:r>
              <a:rPr sz="2800" b="0" spc="10" dirty="0">
                <a:latin typeface="Bookman Old Style"/>
                <a:cs typeface="Bookman Old Style"/>
              </a:rPr>
              <a:t> </a:t>
            </a:r>
            <a:r>
              <a:rPr sz="2800" b="0" spc="-10" dirty="0">
                <a:latin typeface="Bookman Old Style"/>
                <a:cs typeface="Bookman Old Style"/>
              </a:rPr>
              <a:t>file:</a:t>
            </a:r>
            <a:endParaRPr sz="2800">
              <a:latin typeface="Bookman Old Style"/>
              <a:cs typeface="Bookman Old Style"/>
            </a:endParaRPr>
          </a:p>
          <a:p>
            <a:pPr marL="697230" indent="-227329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0" dirty="0">
                <a:latin typeface="Bookman Old Style"/>
                <a:cs typeface="Bookman Old Style"/>
              </a:rPr>
              <a:t>cat</a:t>
            </a:r>
            <a:r>
              <a:rPr sz="2400" b="0" spc="130" dirty="0">
                <a:latin typeface="Bookman Old Style"/>
                <a:cs typeface="Bookman Old Style"/>
              </a:rPr>
              <a:t> </a:t>
            </a:r>
            <a:r>
              <a:rPr sz="2400" b="0" spc="-10" dirty="0">
                <a:latin typeface="Bookman Old Style"/>
                <a:cs typeface="Bookman Old Style"/>
              </a:rPr>
              <a:t>/etc/netplan/00-installer-config.yaml</a:t>
            </a:r>
            <a:endParaRPr sz="24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Font typeface="Arial"/>
              <a:buChar char="•"/>
            </a:pPr>
            <a:endParaRPr sz="24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</a:pPr>
            <a:r>
              <a:rPr sz="2800" b="0" dirty="0">
                <a:latin typeface="Bookman Old Style"/>
                <a:cs typeface="Bookman Old Style"/>
              </a:rPr>
              <a:t>Backup</a:t>
            </a:r>
            <a:r>
              <a:rPr sz="2800" b="0" spc="-60" dirty="0">
                <a:latin typeface="Bookman Old Style"/>
                <a:cs typeface="Bookman Old Style"/>
              </a:rPr>
              <a:t> </a:t>
            </a:r>
            <a:r>
              <a:rPr sz="2800" b="0" dirty="0">
                <a:latin typeface="Bookman Old Style"/>
                <a:cs typeface="Bookman Old Style"/>
              </a:rPr>
              <a:t>config</a:t>
            </a:r>
            <a:r>
              <a:rPr sz="2800" b="0" spc="-10" dirty="0">
                <a:latin typeface="Bookman Old Style"/>
                <a:cs typeface="Bookman Old Style"/>
              </a:rPr>
              <a:t> </a:t>
            </a:r>
            <a:r>
              <a:rPr sz="2800" b="0" spc="-20" dirty="0">
                <a:latin typeface="Bookman Old Style"/>
                <a:cs typeface="Bookman Old Style"/>
              </a:rPr>
              <a:t>file:</a:t>
            </a:r>
            <a:endParaRPr sz="2800">
              <a:latin typeface="Bookman Old Style"/>
              <a:cs typeface="Bookman Old Style"/>
            </a:endParaRPr>
          </a:p>
          <a:p>
            <a:pPr marL="697230" indent="-227329">
              <a:lnSpc>
                <a:spcPct val="100000"/>
              </a:lnSpc>
              <a:spcBef>
                <a:spcPts val="210"/>
              </a:spcBef>
              <a:buFont typeface="Arial"/>
              <a:buChar char="•"/>
              <a:tabLst>
                <a:tab pos="697230" algn="l"/>
                <a:tab pos="2065655" algn="l"/>
              </a:tabLst>
            </a:pPr>
            <a:r>
              <a:rPr sz="2400" b="0" dirty="0">
                <a:latin typeface="Bookman Old Style"/>
                <a:cs typeface="Bookman Old Style"/>
              </a:rPr>
              <a:t>sudo</a:t>
            </a:r>
            <a:r>
              <a:rPr sz="2400" b="0" spc="-45" dirty="0">
                <a:latin typeface="Bookman Old Style"/>
                <a:cs typeface="Bookman Old Style"/>
              </a:rPr>
              <a:t> </a:t>
            </a:r>
            <a:r>
              <a:rPr sz="2400" b="0" spc="-25" dirty="0">
                <a:latin typeface="Bookman Old Style"/>
                <a:cs typeface="Bookman Old Style"/>
              </a:rPr>
              <a:t>cp</a:t>
            </a:r>
            <a:r>
              <a:rPr sz="2400" b="0" dirty="0">
                <a:latin typeface="Bookman Old Style"/>
                <a:cs typeface="Bookman Old Style"/>
              </a:rPr>
              <a:t>	00-</a:t>
            </a:r>
            <a:r>
              <a:rPr sz="2400" b="0" spc="-10" dirty="0">
                <a:latin typeface="Bookman Old Style"/>
                <a:cs typeface="Bookman Old Style"/>
              </a:rPr>
              <a:t>installer-config.yaml</a:t>
            </a:r>
            <a:r>
              <a:rPr sz="2400" b="0" spc="90" dirty="0">
                <a:latin typeface="Bookman Old Style"/>
                <a:cs typeface="Bookman Old Style"/>
              </a:rPr>
              <a:t> </a:t>
            </a:r>
            <a:r>
              <a:rPr sz="2400" b="0" dirty="0">
                <a:latin typeface="Bookman Old Style"/>
                <a:cs typeface="Bookman Old Style"/>
              </a:rPr>
              <a:t>00-</a:t>
            </a:r>
            <a:r>
              <a:rPr sz="2400" b="0" spc="-10" dirty="0">
                <a:latin typeface="Bookman Old Style"/>
                <a:cs typeface="Bookman Old Style"/>
              </a:rPr>
              <a:t>installer-config.yaml.bak</a:t>
            </a:r>
            <a:endParaRPr sz="240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90"/>
              </a:spcBef>
            </a:pPr>
            <a:r>
              <a:rPr dirty="0"/>
              <a:t>Modifying</a:t>
            </a:r>
            <a:r>
              <a:rPr spc="-165" dirty="0"/>
              <a:t> </a:t>
            </a:r>
            <a:r>
              <a:rPr dirty="0"/>
              <a:t>config</a:t>
            </a:r>
            <a:r>
              <a:rPr spc="-135" dirty="0"/>
              <a:t> </a:t>
            </a:r>
            <a:r>
              <a:rPr spc="-20" dirty="0"/>
              <a:t>file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0029" algn="l"/>
              </a:tabLst>
            </a:pPr>
            <a:r>
              <a:rPr dirty="0"/>
              <a:t>sudo</a:t>
            </a:r>
            <a:r>
              <a:rPr spc="-30" dirty="0"/>
              <a:t> </a:t>
            </a:r>
            <a:r>
              <a:rPr dirty="0"/>
              <a:t>nano</a:t>
            </a:r>
            <a:r>
              <a:rPr spc="10" dirty="0"/>
              <a:t> </a:t>
            </a:r>
            <a:r>
              <a:rPr spc="-25" dirty="0"/>
              <a:t>00-</a:t>
            </a:r>
            <a:r>
              <a:rPr spc="-10" dirty="0"/>
              <a:t>installer-config.yaml</a:t>
            </a:r>
          </a:p>
          <a:p>
            <a:pPr>
              <a:lnSpc>
                <a:spcPct val="100000"/>
              </a:lnSpc>
              <a:spcBef>
                <a:spcPts val="1380"/>
              </a:spcBef>
              <a:buFont typeface="Arial"/>
              <a:buChar char="•"/>
            </a:pPr>
            <a:endParaRPr spc="-10" dirty="0"/>
          </a:p>
          <a:p>
            <a:pPr marL="227329" marR="3562985" indent="-227329" algn="r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27329" algn="l"/>
              </a:tabLst>
            </a:pPr>
            <a:r>
              <a:rPr dirty="0"/>
              <a:t>Testing</a:t>
            </a:r>
            <a:r>
              <a:rPr spc="-45" dirty="0"/>
              <a:t> </a:t>
            </a:r>
            <a:r>
              <a:rPr spc="-10" dirty="0"/>
              <a:t>config:</a:t>
            </a:r>
          </a:p>
          <a:p>
            <a:pPr marL="227329" marR="3578860" lvl="1" indent="-227329" algn="r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227329" algn="l"/>
              </a:tabLst>
            </a:pPr>
            <a:r>
              <a:rPr sz="2400" b="0" dirty="0">
                <a:latin typeface="Bookman Old Style"/>
                <a:cs typeface="Bookman Old Style"/>
              </a:rPr>
              <a:t>Verify</a:t>
            </a:r>
            <a:r>
              <a:rPr sz="2400" b="0" spc="-50" dirty="0">
                <a:latin typeface="Bookman Old Style"/>
                <a:cs typeface="Bookman Old Style"/>
              </a:rPr>
              <a:t> </a:t>
            </a:r>
            <a:r>
              <a:rPr sz="2400" b="0" spc="-10" dirty="0">
                <a:latin typeface="Bookman Old Style"/>
                <a:cs typeface="Bookman Old Style"/>
              </a:rPr>
              <a:t>syntax:</a:t>
            </a:r>
            <a:endParaRPr sz="2400">
              <a:latin typeface="Bookman Old Style"/>
              <a:cs typeface="Bookman Old Style"/>
            </a:endParaRPr>
          </a:p>
          <a:p>
            <a:pPr marL="1155065" lvl="2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1155065" algn="l"/>
              </a:tabLst>
            </a:pPr>
            <a:r>
              <a:rPr sz="2000" b="0" dirty="0">
                <a:latin typeface="Bookman Old Style"/>
                <a:cs typeface="Bookman Old Style"/>
              </a:rPr>
              <a:t>sudo</a:t>
            </a:r>
            <a:r>
              <a:rPr sz="2000" b="0" spc="-45" dirty="0">
                <a:latin typeface="Bookman Old Style"/>
                <a:cs typeface="Bookman Old Style"/>
              </a:rPr>
              <a:t> </a:t>
            </a:r>
            <a:r>
              <a:rPr sz="2000" b="0" dirty="0">
                <a:latin typeface="Bookman Old Style"/>
                <a:cs typeface="Bookman Old Style"/>
              </a:rPr>
              <a:t>netplan</a:t>
            </a:r>
            <a:r>
              <a:rPr sz="2000" b="0" spc="-35" dirty="0">
                <a:latin typeface="Bookman Old Style"/>
                <a:cs typeface="Bookman Old Style"/>
              </a:rPr>
              <a:t> </a:t>
            </a:r>
            <a:r>
              <a:rPr sz="2000" b="0" spc="-10" dirty="0">
                <a:latin typeface="Bookman Old Style"/>
                <a:cs typeface="Bookman Old Style"/>
              </a:rPr>
              <a:t>generate</a:t>
            </a:r>
            <a:endParaRPr sz="2000">
              <a:latin typeface="Bookman Old Style"/>
              <a:cs typeface="Bookman Old Style"/>
            </a:endParaRPr>
          </a:p>
          <a:p>
            <a:pPr marL="697230" lvl="1" indent="-227329">
              <a:lnSpc>
                <a:spcPct val="100000"/>
              </a:lnSpc>
              <a:spcBef>
                <a:spcPts val="185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0" dirty="0">
                <a:latin typeface="Bookman Old Style"/>
                <a:cs typeface="Bookman Old Style"/>
              </a:rPr>
              <a:t>Test</a:t>
            </a:r>
            <a:r>
              <a:rPr sz="2400" b="0" spc="-55" dirty="0">
                <a:latin typeface="Bookman Old Style"/>
                <a:cs typeface="Bookman Old Style"/>
              </a:rPr>
              <a:t> </a:t>
            </a:r>
            <a:r>
              <a:rPr sz="2400" b="0" dirty="0">
                <a:latin typeface="Bookman Old Style"/>
                <a:cs typeface="Bookman Old Style"/>
              </a:rPr>
              <a:t>config</a:t>
            </a:r>
            <a:r>
              <a:rPr sz="2400" b="0" spc="-10" dirty="0">
                <a:latin typeface="Bookman Old Style"/>
                <a:cs typeface="Bookman Old Style"/>
              </a:rPr>
              <a:t> </a:t>
            </a:r>
            <a:r>
              <a:rPr sz="2400" b="0" dirty="0">
                <a:latin typeface="Bookman Old Style"/>
                <a:cs typeface="Bookman Old Style"/>
              </a:rPr>
              <a:t>for</a:t>
            </a:r>
            <a:r>
              <a:rPr sz="2400" b="0" spc="-20" dirty="0">
                <a:latin typeface="Bookman Old Style"/>
                <a:cs typeface="Bookman Old Style"/>
              </a:rPr>
              <a:t> </a:t>
            </a:r>
            <a:r>
              <a:rPr sz="2400" b="0" dirty="0">
                <a:latin typeface="Bookman Old Style"/>
                <a:cs typeface="Bookman Old Style"/>
              </a:rPr>
              <a:t>120</a:t>
            </a:r>
            <a:r>
              <a:rPr sz="2400" b="0" spc="-60" dirty="0">
                <a:latin typeface="Bookman Old Style"/>
                <a:cs typeface="Bookman Old Style"/>
              </a:rPr>
              <a:t> </a:t>
            </a:r>
            <a:r>
              <a:rPr sz="2400" b="0" spc="-10" dirty="0">
                <a:latin typeface="Bookman Old Style"/>
                <a:cs typeface="Bookman Old Style"/>
              </a:rPr>
              <a:t>seconds</a:t>
            </a:r>
            <a:endParaRPr sz="2400">
              <a:latin typeface="Bookman Old Style"/>
              <a:cs typeface="Bookman Old Style"/>
            </a:endParaRPr>
          </a:p>
          <a:p>
            <a:pPr marL="1155065" lvl="2" indent="-228600">
              <a:lnSpc>
                <a:spcPct val="100000"/>
              </a:lnSpc>
              <a:spcBef>
                <a:spcPts val="259"/>
              </a:spcBef>
              <a:buFont typeface="Arial"/>
              <a:buChar char="•"/>
              <a:tabLst>
                <a:tab pos="1155065" algn="l"/>
              </a:tabLst>
            </a:pPr>
            <a:r>
              <a:rPr sz="2000" b="0" dirty="0">
                <a:latin typeface="Bookman Old Style"/>
                <a:cs typeface="Bookman Old Style"/>
              </a:rPr>
              <a:t>sudo</a:t>
            </a:r>
            <a:r>
              <a:rPr sz="2000" b="0" spc="-45" dirty="0">
                <a:latin typeface="Bookman Old Style"/>
                <a:cs typeface="Bookman Old Style"/>
              </a:rPr>
              <a:t> </a:t>
            </a:r>
            <a:r>
              <a:rPr sz="2000" b="0" dirty="0">
                <a:latin typeface="Bookman Old Style"/>
                <a:cs typeface="Bookman Old Style"/>
              </a:rPr>
              <a:t>netplan</a:t>
            </a:r>
            <a:r>
              <a:rPr sz="2000" b="0" spc="-35" dirty="0">
                <a:latin typeface="Bookman Old Style"/>
                <a:cs typeface="Bookman Old Style"/>
              </a:rPr>
              <a:t> </a:t>
            </a:r>
            <a:r>
              <a:rPr sz="2000" b="0" spc="-25" dirty="0">
                <a:latin typeface="Bookman Old Style"/>
                <a:cs typeface="Bookman Old Style"/>
              </a:rPr>
              <a:t>try</a:t>
            </a:r>
            <a:endParaRPr sz="2000">
              <a:latin typeface="Bookman Old Style"/>
              <a:cs typeface="Bookman Old Style"/>
            </a:endParaRPr>
          </a:p>
          <a:p>
            <a:pPr marL="240029" indent="-227329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0029" algn="l"/>
              </a:tabLst>
            </a:pPr>
            <a:r>
              <a:rPr dirty="0"/>
              <a:t>Permanently</a:t>
            </a:r>
            <a:r>
              <a:rPr spc="-90" dirty="0"/>
              <a:t> </a:t>
            </a:r>
            <a:r>
              <a:rPr dirty="0"/>
              <a:t>applying</a:t>
            </a:r>
            <a:r>
              <a:rPr spc="-20" dirty="0"/>
              <a:t> </a:t>
            </a:r>
            <a:r>
              <a:rPr spc="-10" dirty="0"/>
              <a:t>config:</a:t>
            </a:r>
          </a:p>
          <a:p>
            <a:pPr marL="697230" lvl="1" indent="-227329">
              <a:lnSpc>
                <a:spcPct val="100000"/>
              </a:lnSpc>
              <a:spcBef>
                <a:spcPts val="209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0" dirty="0">
                <a:latin typeface="Bookman Old Style"/>
                <a:cs typeface="Bookman Old Style"/>
              </a:rPr>
              <a:t>sudo</a:t>
            </a:r>
            <a:r>
              <a:rPr sz="2400" b="0" spc="-45" dirty="0">
                <a:latin typeface="Bookman Old Style"/>
                <a:cs typeface="Bookman Old Style"/>
              </a:rPr>
              <a:t> </a:t>
            </a:r>
            <a:r>
              <a:rPr sz="2400" b="0" dirty="0">
                <a:latin typeface="Bookman Old Style"/>
                <a:cs typeface="Bookman Old Style"/>
              </a:rPr>
              <a:t>netplan</a:t>
            </a:r>
            <a:r>
              <a:rPr sz="2400" b="0" spc="-35" dirty="0">
                <a:latin typeface="Bookman Old Style"/>
                <a:cs typeface="Bookman Old Style"/>
              </a:rPr>
              <a:t> </a:t>
            </a:r>
            <a:r>
              <a:rPr sz="2400" b="0" spc="-20" dirty="0">
                <a:latin typeface="Bookman Old Style"/>
                <a:cs typeface="Bookman Old Style"/>
              </a:rPr>
              <a:t>apply</a:t>
            </a:r>
            <a:endParaRPr sz="240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2281" y="1874520"/>
            <a:ext cx="11228070" cy="3776979"/>
            <a:chOff x="732281" y="1874520"/>
            <a:chExt cx="11228070" cy="37769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720" y="1874520"/>
              <a:ext cx="9628631" cy="377647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77290" y="2338578"/>
              <a:ext cx="1334770" cy="800735"/>
            </a:xfrm>
            <a:custGeom>
              <a:avLst/>
              <a:gdLst/>
              <a:ahLst/>
              <a:cxnLst/>
              <a:rect l="l" t="t" r="r" b="b"/>
              <a:pathLst>
                <a:path w="1334770" h="800735">
                  <a:moveTo>
                    <a:pt x="0" y="0"/>
                  </a:moveTo>
                  <a:lnTo>
                    <a:pt x="1334376" y="800620"/>
                  </a:lnTo>
                </a:path>
              </a:pathLst>
            </a:custGeom>
            <a:ln w="76200">
              <a:solidFill>
                <a:srgbClr val="D247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20180" y="3021579"/>
              <a:ext cx="255270" cy="215900"/>
            </a:xfrm>
            <a:custGeom>
              <a:avLst/>
              <a:gdLst/>
              <a:ahLst/>
              <a:cxnLst/>
              <a:rect l="l" t="t" r="r" b="b"/>
              <a:pathLst>
                <a:path w="255269" h="215900">
                  <a:moveTo>
                    <a:pt x="117627" y="0"/>
                  </a:moveTo>
                  <a:lnTo>
                    <a:pt x="0" y="196011"/>
                  </a:lnTo>
                  <a:lnTo>
                    <a:pt x="254838" y="215633"/>
                  </a:lnTo>
                  <a:lnTo>
                    <a:pt x="117627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5557" y="2338578"/>
              <a:ext cx="1503680" cy="1464945"/>
            </a:xfrm>
            <a:custGeom>
              <a:avLst/>
              <a:gdLst/>
              <a:ahLst/>
              <a:cxnLst/>
              <a:rect l="l" t="t" r="r" b="b"/>
              <a:pathLst>
                <a:path w="1503680" h="1464945">
                  <a:moveTo>
                    <a:pt x="0" y="0"/>
                  </a:moveTo>
                  <a:lnTo>
                    <a:pt x="1503172" y="1464627"/>
                  </a:lnTo>
                </a:path>
              </a:pathLst>
            </a:custGeom>
            <a:ln w="76200">
              <a:solidFill>
                <a:srgbClr val="D247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1681" y="3694747"/>
              <a:ext cx="243840" cy="241935"/>
            </a:xfrm>
            <a:custGeom>
              <a:avLst/>
              <a:gdLst/>
              <a:ahLst/>
              <a:cxnLst/>
              <a:rect l="l" t="t" r="r" b="b"/>
              <a:pathLst>
                <a:path w="243839" h="241935">
                  <a:moveTo>
                    <a:pt x="159537" y="0"/>
                  </a:moveTo>
                  <a:lnTo>
                    <a:pt x="0" y="163728"/>
                  </a:lnTo>
                  <a:lnTo>
                    <a:pt x="243484" y="241401"/>
                  </a:lnTo>
                  <a:lnTo>
                    <a:pt x="159537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381" y="2338578"/>
              <a:ext cx="1789430" cy="2247900"/>
            </a:xfrm>
            <a:custGeom>
              <a:avLst/>
              <a:gdLst/>
              <a:ahLst/>
              <a:cxnLst/>
              <a:rect l="l" t="t" r="r" b="b"/>
              <a:pathLst>
                <a:path w="1789430" h="2247900">
                  <a:moveTo>
                    <a:pt x="0" y="0"/>
                  </a:moveTo>
                  <a:lnTo>
                    <a:pt x="1788985" y="2247315"/>
                  </a:lnTo>
                </a:path>
              </a:pathLst>
            </a:custGeom>
            <a:ln w="76200">
              <a:solidFill>
                <a:srgbClr val="D247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46218" y="4484894"/>
              <a:ext cx="232410" cy="250190"/>
            </a:xfrm>
            <a:custGeom>
              <a:avLst/>
              <a:gdLst/>
              <a:ahLst/>
              <a:cxnLst/>
              <a:rect l="l" t="t" r="r" b="b"/>
              <a:pathLst>
                <a:path w="232410" h="250189">
                  <a:moveTo>
                    <a:pt x="178854" y="0"/>
                  </a:moveTo>
                  <a:lnTo>
                    <a:pt x="0" y="142367"/>
                  </a:lnTo>
                  <a:lnTo>
                    <a:pt x="231787" y="250037"/>
                  </a:lnTo>
                  <a:lnTo>
                    <a:pt x="178854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Finding</a:t>
            </a:r>
            <a:r>
              <a:rPr spc="-90" dirty="0"/>
              <a:t> </a:t>
            </a:r>
            <a:r>
              <a:rPr dirty="0"/>
              <a:t>interface</a:t>
            </a:r>
            <a:r>
              <a:rPr spc="-70" dirty="0"/>
              <a:t> </a:t>
            </a:r>
            <a:r>
              <a:rPr dirty="0"/>
              <a:t>ID’s</a:t>
            </a:r>
            <a:r>
              <a:rPr spc="-70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spc="-10" dirty="0"/>
              <a:t>Ubuntu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1215" y="1664272"/>
            <a:ext cx="13760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0" dirty="0">
                <a:latin typeface="Bookman Old Style"/>
                <a:cs typeface="Bookman Old Style"/>
              </a:rPr>
              <a:t>Ip</a:t>
            </a:r>
            <a:r>
              <a:rPr sz="2800" b="0" spc="5" dirty="0">
                <a:latin typeface="Bookman Old Style"/>
                <a:cs typeface="Bookman Old Style"/>
              </a:rPr>
              <a:t> </a:t>
            </a:r>
            <a:r>
              <a:rPr sz="2800" b="0" spc="-20" dirty="0">
                <a:latin typeface="Bookman Old Style"/>
                <a:cs typeface="Bookman Old Style"/>
              </a:rPr>
              <a:t>link</a:t>
            </a:r>
            <a:endParaRPr sz="280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5161" y="1691640"/>
            <a:ext cx="9107170" cy="4498975"/>
            <a:chOff x="915161" y="1691640"/>
            <a:chExt cx="9107170" cy="4498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3008" y="1691640"/>
              <a:ext cx="6528815" cy="44988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3261" y="1922525"/>
              <a:ext cx="2947670" cy="1089660"/>
            </a:xfrm>
            <a:custGeom>
              <a:avLst/>
              <a:gdLst/>
              <a:ahLst/>
              <a:cxnLst/>
              <a:rect l="l" t="t" r="r" b="b"/>
              <a:pathLst>
                <a:path w="2947670" h="1089660">
                  <a:moveTo>
                    <a:pt x="0" y="0"/>
                  </a:moveTo>
                  <a:lnTo>
                    <a:pt x="2947568" y="1089317"/>
                  </a:lnTo>
                </a:path>
              </a:pathLst>
            </a:custGeom>
            <a:ln w="76199">
              <a:solidFill>
                <a:srgbClr val="D247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25467" y="2891417"/>
              <a:ext cx="254635" cy="214629"/>
            </a:xfrm>
            <a:custGeom>
              <a:avLst/>
              <a:gdLst/>
              <a:ahLst/>
              <a:cxnLst/>
              <a:rect l="l" t="t" r="r" b="b"/>
              <a:pathLst>
                <a:path w="254635" h="214630">
                  <a:moveTo>
                    <a:pt x="79260" y="0"/>
                  </a:moveTo>
                  <a:lnTo>
                    <a:pt x="0" y="214426"/>
                  </a:lnTo>
                  <a:lnTo>
                    <a:pt x="254050" y="186461"/>
                  </a:lnTo>
                  <a:lnTo>
                    <a:pt x="79260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90"/>
              </a:spcBef>
            </a:pPr>
            <a:r>
              <a:rPr dirty="0"/>
              <a:t>Configure</a:t>
            </a:r>
            <a:r>
              <a:rPr spc="-120" dirty="0"/>
              <a:t> </a:t>
            </a:r>
            <a:r>
              <a:rPr dirty="0"/>
              <a:t>DHCP</a:t>
            </a:r>
            <a:r>
              <a:rPr spc="-120" dirty="0"/>
              <a:t> </a:t>
            </a:r>
            <a:r>
              <a:rPr dirty="0"/>
              <a:t>for</a:t>
            </a:r>
            <a:r>
              <a:rPr spc="-90" dirty="0"/>
              <a:t> </a:t>
            </a:r>
            <a:r>
              <a:rPr spc="-10" dirty="0"/>
              <a:t>interface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5282" y="1824227"/>
            <a:ext cx="10234930" cy="4818380"/>
            <a:chOff x="1875282" y="1824227"/>
            <a:chExt cx="10234930" cy="4818380"/>
          </a:xfrm>
        </p:grpSpPr>
        <p:sp>
          <p:nvSpPr>
            <p:cNvPr id="3" name="object 3"/>
            <p:cNvSpPr/>
            <p:nvPr/>
          </p:nvSpPr>
          <p:spPr>
            <a:xfrm>
              <a:off x="1913382" y="3111245"/>
              <a:ext cx="3010535" cy="99060"/>
            </a:xfrm>
            <a:custGeom>
              <a:avLst/>
              <a:gdLst/>
              <a:ahLst/>
              <a:cxnLst/>
              <a:rect l="l" t="t" r="r" b="b"/>
              <a:pathLst>
                <a:path w="3010535" h="99060">
                  <a:moveTo>
                    <a:pt x="0" y="0"/>
                  </a:moveTo>
                  <a:lnTo>
                    <a:pt x="3010001" y="98780"/>
                  </a:lnTo>
                </a:path>
              </a:pathLst>
            </a:custGeom>
            <a:ln w="76200">
              <a:solidFill>
                <a:srgbClr val="D247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81553" y="3094531"/>
              <a:ext cx="232410" cy="228600"/>
            </a:xfrm>
            <a:custGeom>
              <a:avLst/>
              <a:gdLst/>
              <a:ahLst/>
              <a:cxnLst/>
              <a:rect l="l" t="t" r="r" b="b"/>
              <a:pathLst>
                <a:path w="232410" h="228600">
                  <a:moveTo>
                    <a:pt x="7505" y="0"/>
                  </a:moveTo>
                  <a:lnTo>
                    <a:pt x="0" y="228472"/>
                  </a:lnTo>
                  <a:lnTo>
                    <a:pt x="232232" y="121742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64608" y="1824227"/>
              <a:ext cx="6172199" cy="425195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90"/>
              </a:spcBef>
            </a:pPr>
            <a:r>
              <a:rPr dirty="0"/>
              <a:t>Configure</a:t>
            </a:r>
            <a:r>
              <a:rPr spc="-75" dirty="0"/>
              <a:t> </a:t>
            </a:r>
            <a:r>
              <a:rPr dirty="0"/>
              <a:t>fixed</a:t>
            </a:r>
            <a:r>
              <a:rPr spc="-70" dirty="0"/>
              <a:t> </a:t>
            </a:r>
            <a:r>
              <a:rPr dirty="0"/>
              <a:t>IP</a:t>
            </a:r>
            <a:r>
              <a:rPr spc="-155" dirty="0"/>
              <a:t> </a:t>
            </a:r>
            <a:r>
              <a:rPr dirty="0"/>
              <a:t>addr.</a:t>
            </a:r>
            <a:r>
              <a:rPr spc="-9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-10" dirty="0"/>
              <a:t>interface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8224" y="1248155"/>
            <a:ext cx="5870447" cy="524408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90"/>
              </a:spcBef>
            </a:pPr>
            <a:r>
              <a:rPr dirty="0"/>
              <a:t>Configure</a:t>
            </a:r>
            <a:r>
              <a:rPr spc="-80" dirty="0"/>
              <a:t> </a:t>
            </a:r>
            <a:r>
              <a:rPr dirty="0"/>
              <a:t>IP</a:t>
            </a:r>
            <a:r>
              <a:rPr spc="-155" dirty="0"/>
              <a:t> </a:t>
            </a:r>
            <a:r>
              <a:rPr spc="-10" dirty="0"/>
              <a:t>routes.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38961" y="4286239"/>
            <a:ext cx="3690620" cy="228600"/>
            <a:chOff x="838961" y="4286239"/>
            <a:chExt cx="3690620" cy="228600"/>
          </a:xfrm>
        </p:grpSpPr>
        <p:sp>
          <p:nvSpPr>
            <p:cNvPr id="5" name="object 5"/>
            <p:cNvSpPr/>
            <p:nvPr/>
          </p:nvSpPr>
          <p:spPr>
            <a:xfrm>
              <a:off x="838961" y="4400550"/>
              <a:ext cx="3500120" cy="0"/>
            </a:xfrm>
            <a:custGeom>
              <a:avLst/>
              <a:gdLst/>
              <a:ahLst/>
              <a:cxnLst/>
              <a:rect l="l" t="t" r="r" b="b"/>
              <a:pathLst>
                <a:path w="3500120">
                  <a:moveTo>
                    <a:pt x="0" y="0"/>
                  </a:moveTo>
                  <a:lnTo>
                    <a:pt x="3500056" y="0"/>
                  </a:lnTo>
                </a:path>
              </a:pathLst>
            </a:custGeom>
            <a:ln w="76200">
              <a:solidFill>
                <a:srgbClr val="D247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00905" y="4286239"/>
              <a:ext cx="229235" cy="228600"/>
            </a:xfrm>
            <a:custGeom>
              <a:avLst/>
              <a:gdLst/>
              <a:ahLst/>
              <a:cxnLst/>
              <a:rect l="l" t="t" r="r" b="b"/>
              <a:pathLst>
                <a:path w="229235" h="228600">
                  <a:moveTo>
                    <a:pt x="12" y="0"/>
                  </a:moveTo>
                  <a:lnTo>
                    <a:pt x="0" y="228600"/>
                  </a:lnTo>
                  <a:lnTo>
                    <a:pt x="228612" y="1143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396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Ubuntu Netplan configuration</vt:lpstr>
      <vt:lpstr>Netplan file handling</vt:lpstr>
      <vt:lpstr>Modifying config file</vt:lpstr>
      <vt:lpstr>Finding interface ID’s in Ubuntu</vt:lpstr>
      <vt:lpstr>Configure DHCP for interface</vt:lpstr>
      <vt:lpstr>Configure fixed IP addr. for interface</vt:lpstr>
      <vt:lpstr>Configure IP routes.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Azeem Umar (adjunkt – azum@eaaa.dk)</dc:creator>
  <cp:lastModifiedBy>Azeem Umar (adjunkt – azum@eaaa.dk)</cp:lastModifiedBy>
  <cp:revision>5</cp:revision>
  <dcterms:created xsi:type="dcterms:W3CDTF">2026-02-17T17:28:34Z</dcterms:created>
  <dcterms:modified xsi:type="dcterms:W3CDTF">2026-08-18T18:30:59Z</dcterms:modified>
</cp:coreProperties>
</file>